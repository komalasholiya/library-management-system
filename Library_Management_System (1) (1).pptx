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1280160"/>
            <a:ext cx="3840480" cy="384048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3291840"/>
            <a:ext cx="3291840" cy="329184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4" name="Shape 2"/>
          <p:cNvSpPr/>
          <p:nvPr/>
        </p:nvSpPr>
        <p:spPr>
          <a:xfrm>
            <a:off x="3886200" y="502920"/>
            <a:ext cx="1371600" cy="1371600"/>
          </a:xfrm>
          <a:prstGeom prst="ellipse">
            <a:avLst/>
          </a:prstGeom>
          <a:solidFill>
            <a:srgbClr val="141B47"/>
          </a:solidFill>
          <a:ln/>
          <a:effectLst>
            <a:outerShdw sx="100000" sy="100000" kx="0" ky="0" algn="bl" rotWithShape="0" blurRad="101600" dist="38100" dir="2700000">
              <a:srgbClr val="0B123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8686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1488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Library Management System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914400" y="3063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Smarter Way to Manage Books, Members &amp; Circulation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40480" y="3703320"/>
            <a:ext cx="14630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core modules that power the system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30352" cy="530352"/>
          </a:xfrm>
          <a:prstGeom prst="ellipse">
            <a:avLst/>
          </a:prstGeom>
          <a:solidFill>
            <a:srgbClr val="EEF3F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636776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48132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657600" y="148132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At-a-glance overview of books, members and activity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185416"/>
            <a:ext cx="530352" cy="530352"/>
          </a:xfrm>
          <a:prstGeom prst="ellipse">
            <a:avLst/>
          </a:prstGeom>
          <a:solidFill>
            <a:srgbClr val="EEF3F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313432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157984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Book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657600" y="2157984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new titles into the library catalog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2862072"/>
            <a:ext cx="530352" cy="530352"/>
          </a:xfrm>
          <a:prstGeom prst="ellipse">
            <a:avLst/>
          </a:prstGeom>
          <a:solidFill>
            <a:srgbClr val="EEF3FD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990088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28346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Registry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3657600" y="28346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and search the complete book catalog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3538728"/>
            <a:ext cx="530352" cy="530352"/>
          </a:xfrm>
          <a:prstGeom prst="ellipse">
            <a:avLst/>
          </a:prstGeom>
          <a:solidFill>
            <a:srgbClr val="EEF3FD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366674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3511296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Book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3657600" y="3511296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 books to members and track due dates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40080" y="4215384"/>
            <a:ext cx="530352" cy="530352"/>
          </a:xfrm>
          <a:prstGeom prst="ellipse">
            <a:avLst/>
          </a:prstGeom>
          <a:solidFill>
            <a:srgbClr val="EEF3FD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4343400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17320" y="4187952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Book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3657600" y="4187952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returns, fines and update stock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screen shown right after login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counts of total, issued and available books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view of registered members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Shortcuts to Add Book, Issue Book and Return Book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0" y="1234440"/>
            <a:ext cx="1828800" cy="1325880"/>
          </a:xfrm>
          <a:prstGeom prst="roundRect">
            <a:avLst>
              <a:gd name="adj" fmla="val 5517"/>
            </a:avLst>
          </a:prstGeom>
          <a:solidFill>
            <a:srgbClr val="EEF3FD"/>
          </a:solidFill>
          <a:ln/>
          <a:effectLst>
            <a:outerShdw sx="100000" sy="100000" kx="0" ky="0" algn="bl" rotWithShape="0" blurRad="101600" dist="38100" dir="2700000">
              <a:srgbClr val="0B123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6592" y="1399032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09160" y="170992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1,240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709160" y="21488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Books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565392" y="1234440"/>
            <a:ext cx="1828800" cy="1325880"/>
          </a:xfrm>
          <a:prstGeom prst="roundRect">
            <a:avLst>
              <a:gd name="adj" fmla="val 5517"/>
            </a:avLst>
          </a:prstGeom>
          <a:solidFill>
            <a:srgbClr val="EEF3FD"/>
          </a:solidFill>
          <a:ln/>
          <a:effectLst>
            <a:outerShdw sx="100000" sy="100000" kx="0" ky="0" algn="bl" rotWithShape="0" blurRad="101600" dist="38100" dir="2700000">
              <a:srgbClr val="0B1230">
                <a:alpha val="1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9984" y="1399032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02552" y="170992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6702552" y="21488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Issued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0" y="2724912"/>
            <a:ext cx="1828800" cy="1325880"/>
          </a:xfrm>
          <a:prstGeom prst="roundRect">
            <a:avLst>
              <a:gd name="adj" fmla="val 5517"/>
            </a:avLst>
          </a:prstGeom>
          <a:solidFill>
            <a:srgbClr val="EEF3FD"/>
          </a:solidFill>
          <a:ln/>
          <a:effectLst>
            <a:outerShdw sx="100000" sy="100000" kx="0" ky="0" algn="bl" rotWithShape="0" blurRad="101600" dist="38100" dir="2700000">
              <a:srgbClr val="0B1230">
                <a:alpha val="1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2889504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09160" y="32004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1,155</a:t>
            </a:r>
            <a:endParaRPr lang="en-US" sz="2400" dirty="0"/>
          </a:p>
        </p:txBody>
      </p:sp>
      <p:sp>
        <p:nvSpPr>
          <p:cNvPr id="15" name="Text 10"/>
          <p:cNvSpPr/>
          <p:nvPr/>
        </p:nvSpPr>
        <p:spPr>
          <a:xfrm>
            <a:off x="4709160" y="363931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Books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565392" y="2724912"/>
            <a:ext cx="1828800" cy="1325880"/>
          </a:xfrm>
          <a:prstGeom prst="roundRect">
            <a:avLst>
              <a:gd name="adj" fmla="val 5517"/>
            </a:avLst>
          </a:prstGeom>
          <a:solidFill>
            <a:srgbClr val="EEF3FD"/>
          </a:solidFill>
          <a:ln/>
          <a:effectLst>
            <a:outerShdw sx="100000" sy="100000" kx="0" ky="0" algn="bl" rotWithShape="0" blurRad="101600" dist="38100" dir="2700000">
              <a:srgbClr val="0B1230">
                <a:alpha val="1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984" y="2889504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02552" y="32004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</a:t>
            </a:r>
            <a:endParaRPr lang="en-US" sz="2400" dirty="0"/>
          </a:p>
        </p:txBody>
      </p:sp>
      <p:sp>
        <p:nvSpPr>
          <p:cNvPr id="19" name="Text 13"/>
          <p:cNvSpPr/>
          <p:nvPr/>
        </p:nvSpPr>
        <p:spPr>
          <a:xfrm>
            <a:off x="6702552" y="363931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Members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4572000" y="40690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*Sample figures shown for illustration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Book Module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the librarian to register a new title into the catalog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84048" cy="384048"/>
          </a:xfrm>
          <a:prstGeom prst="ellipse">
            <a:avLst/>
          </a:prstGeom>
          <a:solidFill>
            <a:srgbClr val="EEF3F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604772"/>
            <a:ext cx="192024" cy="1920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490472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Title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075688"/>
            <a:ext cx="384048" cy="384048"/>
          </a:xfrm>
          <a:prstGeom prst="ellipse">
            <a:avLst/>
          </a:prstGeom>
          <a:solidFill>
            <a:srgbClr val="EEF3FD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2171700"/>
            <a:ext cx="192024" cy="1920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057400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Name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48640" y="2642616"/>
            <a:ext cx="384048" cy="384048"/>
          </a:xfrm>
          <a:prstGeom prst="ellipse">
            <a:avLst/>
          </a:prstGeom>
          <a:solidFill>
            <a:srgbClr val="EEF3FD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2738628"/>
            <a:ext cx="192024" cy="19202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262432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ISBN Number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548640" y="3209544"/>
            <a:ext cx="384048" cy="384048"/>
          </a:xfrm>
          <a:prstGeom prst="ellipse">
            <a:avLst/>
          </a:prstGeom>
          <a:solidFill>
            <a:srgbClr val="EEF3FD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3305556"/>
            <a:ext cx="192024" cy="19202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97280" y="3191256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/ Genre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548640" y="3776472"/>
            <a:ext cx="384048" cy="384048"/>
          </a:xfrm>
          <a:prstGeom prst="ellipse">
            <a:avLst/>
          </a:prstGeom>
          <a:solidFill>
            <a:srgbClr val="EEF3FD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3872484"/>
            <a:ext cx="192024" cy="19202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97280" y="3758184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Available</a:t>
            </a:r>
            <a:endParaRPr lang="en-US" sz="1350" dirty="0"/>
          </a:p>
        </p:txBody>
      </p:sp>
      <p:sp>
        <p:nvSpPr>
          <p:cNvPr id="19" name="Shape 12"/>
          <p:cNvSpPr/>
          <p:nvPr/>
        </p:nvSpPr>
        <p:spPr>
          <a:xfrm>
            <a:off x="4572000" y="1280160"/>
            <a:ext cx="3931920" cy="3383280"/>
          </a:xfrm>
          <a:prstGeom prst="roundRect">
            <a:avLst>
              <a:gd name="adj" fmla="val 216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B1230">
                <a:alpha val="18000"/>
              </a:srgbClr>
            </a:outerShdw>
          </a:effectLst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1508760"/>
            <a:ext cx="457200" cy="4572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440680" y="15087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Book Entry Form</a:t>
            </a:r>
            <a:endParaRPr lang="en-US" sz="1400" dirty="0"/>
          </a:p>
        </p:txBody>
      </p:sp>
      <p:sp>
        <p:nvSpPr>
          <p:cNvPr id="22" name="Text 14"/>
          <p:cNvSpPr/>
          <p:nvPr/>
        </p:nvSpPr>
        <p:spPr>
          <a:xfrm>
            <a:off x="4892040" y="208483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Title</a:t>
            </a:r>
            <a:endParaRPr lang="en-US" sz="1000" dirty="0"/>
          </a:p>
        </p:txBody>
      </p:sp>
      <p:sp>
        <p:nvSpPr>
          <p:cNvPr id="23" name="Shape 15"/>
          <p:cNvSpPr/>
          <p:nvPr/>
        </p:nvSpPr>
        <p:spPr>
          <a:xfrm>
            <a:off x="4892040" y="2295144"/>
            <a:ext cx="3291840" cy="237744"/>
          </a:xfrm>
          <a:prstGeom prst="roundRect">
            <a:avLst>
              <a:gd name="adj" fmla="val 15385"/>
            </a:avLst>
          </a:prstGeom>
          <a:solidFill>
            <a:srgbClr val="141B47"/>
          </a:solidFill>
          <a:ln/>
        </p:spPr>
      </p:sp>
      <p:sp>
        <p:nvSpPr>
          <p:cNvPr id="24" name="Text 16"/>
          <p:cNvSpPr/>
          <p:nvPr/>
        </p:nvSpPr>
        <p:spPr>
          <a:xfrm>
            <a:off x="4892040" y="258775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Name</a:t>
            </a:r>
            <a:endParaRPr lang="en-US" sz="1000" dirty="0"/>
          </a:p>
        </p:txBody>
      </p:sp>
      <p:sp>
        <p:nvSpPr>
          <p:cNvPr id="25" name="Shape 17"/>
          <p:cNvSpPr/>
          <p:nvPr/>
        </p:nvSpPr>
        <p:spPr>
          <a:xfrm>
            <a:off x="4892040" y="2798064"/>
            <a:ext cx="3291840" cy="237744"/>
          </a:xfrm>
          <a:prstGeom prst="roundRect">
            <a:avLst>
              <a:gd name="adj" fmla="val 15385"/>
            </a:avLst>
          </a:prstGeom>
          <a:solidFill>
            <a:srgbClr val="141B47"/>
          </a:solidFill>
          <a:ln/>
        </p:spPr>
      </p:sp>
      <p:sp>
        <p:nvSpPr>
          <p:cNvPr id="26" name="Text 18"/>
          <p:cNvSpPr/>
          <p:nvPr/>
        </p:nvSpPr>
        <p:spPr>
          <a:xfrm>
            <a:off x="4892040" y="309067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ISBN Number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4892040" y="3300984"/>
            <a:ext cx="3291840" cy="237744"/>
          </a:xfrm>
          <a:prstGeom prst="roundRect">
            <a:avLst>
              <a:gd name="adj" fmla="val 15385"/>
            </a:avLst>
          </a:prstGeom>
          <a:solidFill>
            <a:srgbClr val="141B47"/>
          </a:solidFill>
          <a:ln/>
        </p:spPr>
      </p:sp>
      <p:sp>
        <p:nvSpPr>
          <p:cNvPr id="28" name="Text 20"/>
          <p:cNvSpPr/>
          <p:nvPr/>
        </p:nvSpPr>
        <p:spPr>
          <a:xfrm>
            <a:off x="4892040" y="359359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4892040" y="3803904"/>
            <a:ext cx="3291840" cy="237744"/>
          </a:xfrm>
          <a:prstGeom prst="roundRect">
            <a:avLst>
              <a:gd name="adj" fmla="val 15385"/>
            </a:avLst>
          </a:prstGeom>
          <a:solidFill>
            <a:srgbClr val="141B47"/>
          </a:solidFill>
          <a:ln/>
        </p:spPr>
      </p:sp>
      <p:sp>
        <p:nvSpPr>
          <p:cNvPr id="30" name="Text 22"/>
          <p:cNvSpPr/>
          <p:nvPr/>
        </p:nvSpPr>
        <p:spPr>
          <a:xfrm>
            <a:off x="4892040" y="409651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4892040" y="4306824"/>
            <a:ext cx="3291840" cy="237744"/>
          </a:xfrm>
          <a:prstGeom prst="roundRect">
            <a:avLst>
              <a:gd name="adj" fmla="val 15385"/>
            </a:avLst>
          </a:prstGeom>
          <a:solidFill>
            <a:srgbClr val="141B47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 Book Registry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filter and review every book in the catalog at a glance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8046720" cy="2377440"/>
        </p:xfrm>
        <a:graphic>
          <a:graphicData uri="http://schemas.openxmlformats.org/drawingml/2006/table">
            <a:tbl>
              <a:tblPr/>
              <a:tblGrid>
                <a:gridCol w="1188720"/>
                <a:gridCol w="2468880"/>
                <a:gridCol w="2011680"/>
                <a:gridCol w="1463040"/>
                <a:gridCol w="914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 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B-1042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Silent Patient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Alex Michaelides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Thriller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B-1108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Atomic Habits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James Clear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Self-Help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97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B-1187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Sapiens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Yuval N. Harari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B-1223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Alchemist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Paulo Coelho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97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Librarians can search by title, author or ISBN, and filter by category or availability status.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 Book Process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book moves from the shelf into a member's hands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78992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78992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587752"/>
            <a:ext cx="1517904" cy="1115568"/>
          </a:xfrm>
          <a:prstGeom prst="roundRect">
            <a:avLst>
              <a:gd name="adj" fmla="val 5738"/>
            </a:avLst>
          </a:prstGeom>
          <a:solidFill>
            <a:srgbClr val="EEF3FD"/>
          </a:solidFill>
          <a:ln/>
          <a:effectLst>
            <a:outerShdw sx="100000" sy="100000" kx="0" ky="0" algn="bl" rotWithShape="0" blurRad="101600" dist="38100" dir="2700000">
              <a:srgbClr val="0B123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2734056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3504" y="3081528"/>
            <a:ext cx="1408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Member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03504" y="3355848"/>
            <a:ext cx="14081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the member by ID</a:t>
            </a:r>
            <a:endParaRPr lang="en-US" sz="830" dirty="0"/>
          </a:p>
        </p:txBody>
      </p:sp>
      <p:sp>
        <p:nvSpPr>
          <p:cNvPr id="10" name="Shape 7"/>
          <p:cNvSpPr/>
          <p:nvPr/>
        </p:nvSpPr>
        <p:spPr>
          <a:xfrm>
            <a:off x="2084832" y="2194560"/>
            <a:ext cx="164592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798064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2798064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267712" y="2587752"/>
            <a:ext cx="1517904" cy="1115568"/>
          </a:xfrm>
          <a:prstGeom prst="roundRect">
            <a:avLst>
              <a:gd name="adj" fmla="val 5738"/>
            </a:avLst>
          </a:prstGeom>
          <a:solidFill>
            <a:srgbClr val="EEF3FD"/>
          </a:solidFill>
          <a:ln/>
          <a:effectLst>
            <a:outerShdw sx="100000" sy="100000" kx="0" ky="0" algn="bl" rotWithShape="0" blurRad="101600" dist="38100" dir="2700000">
              <a:srgbClr val="0B1230">
                <a:alpha val="1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1216" y="2734056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322576" y="3081528"/>
            <a:ext cx="1408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Book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2322576" y="3355848"/>
            <a:ext cx="14081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requested title</a:t>
            </a:r>
            <a:endParaRPr lang="en-US" sz="830" dirty="0"/>
          </a:p>
        </p:txBody>
      </p:sp>
      <p:sp>
        <p:nvSpPr>
          <p:cNvPr id="17" name="Shape 13"/>
          <p:cNvSpPr/>
          <p:nvPr/>
        </p:nvSpPr>
        <p:spPr>
          <a:xfrm>
            <a:off x="3803904" y="2194560"/>
            <a:ext cx="164592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4517136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5"/>
          <p:cNvSpPr/>
          <p:nvPr/>
        </p:nvSpPr>
        <p:spPr>
          <a:xfrm>
            <a:off x="4517136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3986784" y="2587752"/>
            <a:ext cx="1517904" cy="1115568"/>
          </a:xfrm>
          <a:prstGeom prst="roundRect">
            <a:avLst>
              <a:gd name="adj" fmla="val 5738"/>
            </a:avLst>
          </a:prstGeom>
          <a:solidFill>
            <a:srgbClr val="EEF3FD"/>
          </a:solidFill>
          <a:ln/>
          <a:effectLst>
            <a:outerShdw sx="100000" sy="100000" kx="0" ky="0" algn="bl" rotWithShape="0" blurRad="101600" dist="38100" dir="2700000">
              <a:srgbClr val="0B1230">
                <a:alpha val="18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288" y="2734056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041648" y="3081528"/>
            <a:ext cx="1408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Availability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4041648" y="3355848"/>
            <a:ext cx="14081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 copy is free</a:t>
            </a:r>
            <a:endParaRPr lang="en-US" sz="830" dirty="0"/>
          </a:p>
        </p:txBody>
      </p:sp>
      <p:sp>
        <p:nvSpPr>
          <p:cNvPr id="24" name="Shape 19"/>
          <p:cNvSpPr/>
          <p:nvPr/>
        </p:nvSpPr>
        <p:spPr>
          <a:xfrm>
            <a:off x="5522976" y="2194560"/>
            <a:ext cx="164592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6236208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1"/>
          <p:cNvSpPr/>
          <p:nvPr/>
        </p:nvSpPr>
        <p:spPr>
          <a:xfrm>
            <a:off x="6236208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5705856" y="2587752"/>
            <a:ext cx="1517904" cy="1115568"/>
          </a:xfrm>
          <a:prstGeom prst="roundRect">
            <a:avLst>
              <a:gd name="adj" fmla="val 5738"/>
            </a:avLst>
          </a:prstGeom>
          <a:solidFill>
            <a:srgbClr val="EEF3FD"/>
          </a:solidFill>
          <a:ln/>
          <a:effectLst>
            <a:outerShdw sx="100000" sy="100000" kx="0" ky="0" algn="bl" rotWithShape="0" blurRad="101600" dist="38100" dir="2700000">
              <a:srgbClr val="0B1230">
                <a:alpha val="18000"/>
              </a:srgbClr>
            </a:outerShdw>
          </a:effectLst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734056"/>
            <a:ext cx="310896" cy="31089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760720" y="3081528"/>
            <a:ext cx="1408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Due Date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5760720" y="3355848"/>
            <a:ext cx="14081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book &amp; fix return date</a:t>
            </a:r>
            <a:endParaRPr lang="en-US" sz="830" dirty="0"/>
          </a:p>
        </p:txBody>
      </p:sp>
      <p:sp>
        <p:nvSpPr>
          <p:cNvPr id="31" name="Shape 25"/>
          <p:cNvSpPr/>
          <p:nvPr/>
        </p:nvSpPr>
        <p:spPr>
          <a:xfrm>
            <a:off x="7242048" y="2194560"/>
            <a:ext cx="164592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2" name="Shape 26"/>
          <p:cNvSpPr/>
          <p:nvPr/>
        </p:nvSpPr>
        <p:spPr>
          <a:xfrm>
            <a:off x="7955280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3" name="Text 27"/>
          <p:cNvSpPr/>
          <p:nvPr/>
        </p:nvSpPr>
        <p:spPr>
          <a:xfrm>
            <a:off x="795528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Shape 28"/>
          <p:cNvSpPr/>
          <p:nvPr/>
        </p:nvSpPr>
        <p:spPr>
          <a:xfrm>
            <a:off x="7424928" y="2587752"/>
            <a:ext cx="1517904" cy="1115568"/>
          </a:xfrm>
          <a:prstGeom prst="roundRect">
            <a:avLst>
              <a:gd name="adj" fmla="val 5738"/>
            </a:avLst>
          </a:prstGeom>
          <a:solidFill>
            <a:srgbClr val="EEF3FD"/>
          </a:solidFill>
          <a:ln/>
          <a:effectLst>
            <a:outerShdw sx="100000" sy="100000" kx="0" ky="0" algn="bl" rotWithShape="0" blurRad="101600" dist="38100" dir="2700000">
              <a:srgbClr val="0B1230">
                <a:alpha val="18000"/>
              </a:srgbClr>
            </a:outerShdw>
          </a:effectLst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8432" y="2734056"/>
            <a:ext cx="310896" cy="310896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479792" y="3081528"/>
            <a:ext cx="1408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Records</a:t>
            </a:r>
            <a:endParaRPr lang="en-US" sz="1050" dirty="0"/>
          </a:p>
        </p:txBody>
      </p:sp>
      <p:sp>
        <p:nvSpPr>
          <p:cNvPr id="37" name="Text 30"/>
          <p:cNvSpPr/>
          <p:nvPr/>
        </p:nvSpPr>
        <p:spPr>
          <a:xfrm>
            <a:off x="7479792" y="3355848"/>
            <a:ext cx="14081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&amp; status refresh</a:t>
            </a:r>
            <a:endParaRPr lang="en-US" sz="8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Book Process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a member brings a book back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B123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19072"/>
            <a:ext cx="457200" cy="45720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837944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231136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Select Issued Book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31520" y="2542032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the active loan by member or book ID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00984" y="155448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B123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65576" y="1719072"/>
            <a:ext cx="457200" cy="45720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48" y="1837944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65576" y="2231136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Verify Condition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465576" y="2542032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book's physical condition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035040" y="155448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B123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99632" y="1719072"/>
            <a:ext cx="457200" cy="45720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1837944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99632" y="2231136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Calculate Fine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199632" y="2542032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Auto-calculate late fee if overdue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66928" y="320040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B123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364992"/>
            <a:ext cx="457200" cy="45720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3483864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3877056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Update Stock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31520" y="4187952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the copy back as available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3300984" y="320040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B123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65576" y="3364992"/>
            <a:ext cx="457200" cy="45720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4448" y="3483864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465576" y="3877056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Confirm Return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3465576" y="4187952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loan record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3657600" cy="36576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2926080"/>
            <a:ext cx="3291840" cy="329184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4" name="Shape 2"/>
          <p:cNvSpPr/>
          <p:nvPr/>
        </p:nvSpPr>
        <p:spPr>
          <a:xfrm>
            <a:off x="3886200" y="640080"/>
            <a:ext cx="1371600" cy="1371600"/>
          </a:xfrm>
          <a:prstGeom prst="ellipse">
            <a:avLst/>
          </a:prstGeom>
          <a:solidFill>
            <a:srgbClr val="141B47"/>
          </a:solidFill>
          <a:ln/>
          <a:effectLst>
            <a:outerShdw sx="100000" sy="100000" kx="0" ky="0" algn="bl" rotWithShape="0" blurRad="101600" dist="38100" dir="2700000">
              <a:srgbClr val="0B123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10058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2860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548640" y="30632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are welcome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Library Management System</dc:title>
  <dc:subject>PptxGenJS Presentation</dc:subject>
  <dc:creator>Library Management System</dc:creator>
  <cp:lastModifiedBy>Library Management System</cp:lastModifiedBy>
  <cp:revision>1</cp:revision>
  <dcterms:created xsi:type="dcterms:W3CDTF">2026-06-24T06:56:22Z</dcterms:created>
  <dcterms:modified xsi:type="dcterms:W3CDTF">2026-06-24T06:56:22Z</dcterms:modified>
</cp:coreProperties>
</file>